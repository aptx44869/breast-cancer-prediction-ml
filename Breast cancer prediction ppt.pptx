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8" r:id="rId14"/>
    <p:sldId id="267"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0"/>
    <p:restoredTop sz="94660"/>
  </p:normalViewPr>
  <p:slideViewPr>
    <p:cSldViewPr>
      <p:cViewPr>
        <p:scale>
          <a:sx n="40" d="100"/>
          <a:sy n="40" d="100"/>
        </p:scale>
        <p:origin x="-2892" y="-82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6C0186-D80C-42F1-8F91-CB2EE4FF3C46}" type="datetimeFigureOut">
              <a:rPr lang="en-US" smtClean="0"/>
              <a:t>6/13/2023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38E53E-A74A-4D2A-B612-F8859D96B3F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538E53E-A74A-4D2A-B612-F8859D96B3FB}" type="slidenum">
              <a:rPr lang="en-US" smtClean="0"/>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DDA62A-81E8-45D5-80D4-72421EC127A0}"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DDA62A-81E8-45D5-80D4-72421EC127A0}"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DDA62A-81E8-45D5-80D4-72421EC127A0}"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2DDA62A-81E8-45D5-80D4-72421EC127A0}" type="datetimeFigureOut">
              <a:rPr lang="en-US" smtClean="0"/>
              <a:t>6/13/2023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2DDA62A-81E8-45D5-80D4-72421EC127A0}" type="datetimeFigureOut">
              <a:rPr lang="en-US" smtClean="0"/>
              <a:t>6/13/2023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2DDA62A-81E8-45D5-80D4-72421EC127A0}" type="datetimeFigureOut">
              <a:rPr lang="en-US" smtClean="0"/>
              <a:t>6/13/2023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DDA62A-81E8-45D5-80D4-72421EC127A0}" type="datetimeFigureOut">
              <a:rPr lang="en-US" smtClean="0"/>
              <a:t>6/13/2023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DDA62A-81E8-45D5-80D4-72421EC127A0}" type="datetimeFigureOut">
              <a:rPr lang="en-US" smtClean="0"/>
              <a:t>6/13/2023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DDA62A-81E8-45D5-80D4-72421EC127A0}" type="datetimeFigureOut">
              <a:rPr lang="en-US" smtClean="0"/>
              <a:t>6/13/2023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DDA62A-81E8-45D5-80D4-72421EC127A0}"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DDA62A-81E8-45D5-80D4-72421EC127A0}" type="datetimeFigureOut">
              <a:rPr lang="en-US" smtClean="0"/>
              <a:t>6/13/2023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7023-72E5-42B7-A857-8384AF44C87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DA62A-81E8-45D5-80D4-72421EC127A0}" type="datetimeFigureOut">
              <a:rPr lang="en-US" smtClean="0"/>
              <a:t>6/13/2023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687023-72E5-42B7-A857-8384AF44C87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kaggle.com/datasets/uciml/breast-cancer-wisconsin-data"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8458200" cy="1371599"/>
          </a:xfrm>
        </p:spPr>
        <p:txBody>
          <a:bodyPr>
            <a:normAutofit/>
          </a:bodyPr>
          <a:lstStyle/>
          <a:p>
            <a:r>
              <a:rPr lang="en-US" sz="2400" dirty="0" smtClean="0"/>
              <a:t>            </a:t>
            </a:r>
            <a:r>
              <a:rPr lang="en-US" sz="2400" b="1" dirty="0" smtClean="0"/>
              <a:t>DEPARTMENT OF COMPUTER SCIENCE AND ENGINEERING</a:t>
            </a:r>
            <a:br>
              <a:rPr lang="en-US" sz="2400" b="1" dirty="0" smtClean="0"/>
            </a:br>
            <a:r>
              <a:rPr lang="en-US" sz="2400" b="1" dirty="0" smtClean="0"/>
              <a:t>               DRIEMS POLYTECHNIC, TANGI, CUTTACK-754022</a:t>
            </a:r>
            <a:endParaRPr lang="en-US" sz="2400" b="1" dirty="0"/>
          </a:p>
        </p:txBody>
      </p:sp>
      <p:sp>
        <p:nvSpPr>
          <p:cNvPr id="3" name="Subtitle 2"/>
          <p:cNvSpPr>
            <a:spLocks noGrp="1"/>
          </p:cNvSpPr>
          <p:nvPr>
            <p:ph type="subTitle" idx="1"/>
          </p:nvPr>
        </p:nvSpPr>
        <p:spPr>
          <a:xfrm>
            <a:off x="0" y="1676400"/>
            <a:ext cx="9144000" cy="5638800"/>
          </a:xfrm>
        </p:spPr>
        <p:txBody>
          <a:bodyPr>
            <a:normAutofit/>
          </a:bodyPr>
          <a:lstStyle/>
          <a:p>
            <a:r>
              <a:rPr lang="en-US" sz="1800" dirty="0" smtClean="0">
                <a:solidFill>
                  <a:schemeClr val="accent6">
                    <a:lumMod val="75000"/>
                  </a:schemeClr>
                </a:solidFill>
              </a:rPr>
              <a:t>“Breast Cancer Prediction Using </a:t>
            </a:r>
          </a:p>
          <a:p>
            <a:r>
              <a:rPr lang="en-US" sz="1800" dirty="0" smtClean="0">
                <a:solidFill>
                  <a:schemeClr val="accent6">
                    <a:lumMod val="75000"/>
                  </a:schemeClr>
                </a:solidFill>
              </a:rPr>
              <a:t>Machine Learning”</a:t>
            </a:r>
          </a:p>
          <a:p>
            <a:r>
              <a:rPr lang="en-US" sz="1800" dirty="0" smtClean="0"/>
              <a:t>By</a:t>
            </a:r>
          </a:p>
          <a:p>
            <a:pPr algn="l"/>
            <a:r>
              <a:rPr lang="en-US" sz="1800" dirty="0" smtClean="0"/>
              <a:t>                                              </a:t>
            </a:r>
            <a:r>
              <a:rPr lang="en-US" sz="1800" dirty="0" smtClean="0">
                <a:solidFill>
                  <a:schemeClr val="tx2">
                    <a:lumMod val="60000"/>
                    <a:lumOff val="40000"/>
                  </a:schemeClr>
                </a:solidFill>
              </a:rPr>
              <a:t>ABDUL WAHED                          F20026007001</a:t>
            </a:r>
          </a:p>
          <a:p>
            <a:pPr algn="l"/>
            <a:r>
              <a:rPr lang="en-US" sz="1800" dirty="0" smtClean="0">
                <a:solidFill>
                  <a:schemeClr val="tx2">
                    <a:lumMod val="60000"/>
                    <a:lumOff val="40000"/>
                  </a:schemeClr>
                </a:solidFill>
              </a:rPr>
              <a:t>                                              ANIKET MOHANTY                    F20026007003            </a:t>
            </a:r>
          </a:p>
          <a:p>
            <a:pPr algn="l"/>
            <a:r>
              <a:rPr lang="en-US" sz="1800" dirty="0">
                <a:solidFill>
                  <a:schemeClr val="tx2">
                    <a:lumMod val="60000"/>
                    <a:lumOff val="40000"/>
                  </a:schemeClr>
                </a:solidFill>
              </a:rPr>
              <a:t> </a:t>
            </a:r>
            <a:r>
              <a:rPr lang="en-US" sz="1800" dirty="0" smtClean="0">
                <a:solidFill>
                  <a:schemeClr val="tx2">
                    <a:lumMod val="60000"/>
                    <a:lumOff val="40000"/>
                  </a:schemeClr>
                </a:solidFill>
              </a:rPr>
              <a:t>                                             BISWAJIT DAS                             F20026007010</a:t>
            </a:r>
          </a:p>
          <a:p>
            <a:pPr algn="l"/>
            <a:r>
              <a:rPr lang="en-US" sz="1800" dirty="0" smtClean="0">
                <a:solidFill>
                  <a:schemeClr val="tx2">
                    <a:lumMod val="60000"/>
                    <a:lumOff val="40000"/>
                  </a:schemeClr>
                </a:solidFill>
              </a:rPr>
              <a:t>                                              PRAVAT JYOTI MOHANTY          F20026007031</a:t>
            </a:r>
          </a:p>
          <a:p>
            <a:pPr algn="l"/>
            <a:r>
              <a:rPr lang="en-US" sz="1800" dirty="0">
                <a:solidFill>
                  <a:schemeClr val="tx2">
                    <a:lumMod val="60000"/>
                    <a:lumOff val="40000"/>
                  </a:schemeClr>
                </a:solidFill>
              </a:rPr>
              <a:t> </a:t>
            </a:r>
            <a:r>
              <a:rPr lang="en-US" sz="1800" dirty="0" smtClean="0">
                <a:solidFill>
                  <a:schemeClr val="tx2">
                    <a:lumMod val="60000"/>
                    <a:lumOff val="40000"/>
                  </a:schemeClr>
                </a:solidFill>
              </a:rPr>
              <a:t>                                             SUSANTA KUMAR BEHERA       L21026007005</a:t>
            </a:r>
          </a:p>
          <a:p>
            <a:pPr algn="l"/>
            <a:endParaRPr lang="en-US" sz="1800" dirty="0">
              <a:solidFill>
                <a:schemeClr val="tx2">
                  <a:lumMod val="60000"/>
                  <a:lumOff val="40000"/>
                </a:schemeClr>
              </a:solidFill>
            </a:endParaRPr>
          </a:p>
          <a:p>
            <a:pPr algn="l"/>
            <a:endParaRPr lang="en-US" sz="1800" dirty="0" smtClean="0">
              <a:solidFill>
                <a:schemeClr val="tx2">
                  <a:lumMod val="60000"/>
                  <a:lumOff val="40000"/>
                </a:schemeClr>
              </a:solidFill>
            </a:endParaRPr>
          </a:p>
          <a:p>
            <a:pPr algn="l"/>
            <a:endParaRPr lang="en-US" sz="1800" dirty="0">
              <a:solidFill>
                <a:schemeClr val="tx2">
                  <a:lumMod val="60000"/>
                  <a:lumOff val="40000"/>
                </a:schemeClr>
              </a:solidFill>
            </a:endParaRPr>
          </a:p>
          <a:p>
            <a:pPr algn="l"/>
            <a:r>
              <a:rPr lang="en-US" sz="1800" dirty="0" smtClean="0">
                <a:solidFill>
                  <a:schemeClr val="accent3">
                    <a:lumMod val="75000"/>
                  </a:schemeClr>
                </a:solidFill>
              </a:rPr>
              <a:t>GUIDED BY:-                                                                                                        Presented By:-</a:t>
            </a:r>
          </a:p>
          <a:p>
            <a:pPr algn="l"/>
            <a:r>
              <a:rPr lang="en-US" sz="1800" dirty="0" err="1" smtClean="0">
                <a:solidFill>
                  <a:schemeClr val="accent3">
                    <a:lumMod val="75000"/>
                  </a:schemeClr>
                </a:solidFill>
              </a:rPr>
              <a:t>Soumya</a:t>
            </a:r>
            <a:r>
              <a:rPr lang="en-US" sz="1800" dirty="0" smtClean="0">
                <a:solidFill>
                  <a:schemeClr val="accent3">
                    <a:lumMod val="75000"/>
                  </a:schemeClr>
                </a:solidFill>
              </a:rPr>
              <a:t> </a:t>
            </a:r>
            <a:r>
              <a:rPr lang="en-US" sz="1800" dirty="0" err="1" smtClean="0">
                <a:solidFill>
                  <a:schemeClr val="accent3">
                    <a:lumMod val="75000"/>
                  </a:schemeClr>
                </a:solidFill>
              </a:rPr>
              <a:t>Snigdha</a:t>
            </a:r>
            <a:r>
              <a:rPr lang="en-US" sz="1800" dirty="0" smtClean="0">
                <a:solidFill>
                  <a:schemeClr val="accent3">
                    <a:lumMod val="75000"/>
                  </a:schemeClr>
                </a:solidFill>
              </a:rPr>
              <a:t> </a:t>
            </a:r>
            <a:r>
              <a:rPr lang="en-US" sz="1800" dirty="0" err="1" smtClean="0">
                <a:solidFill>
                  <a:schemeClr val="accent3">
                    <a:lumMod val="75000"/>
                  </a:schemeClr>
                </a:solidFill>
              </a:rPr>
              <a:t>Mohapatra</a:t>
            </a:r>
            <a:r>
              <a:rPr lang="en-US" sz="1800" dirty="0" smtClean="0">
                <a:solidFill>
                  <a:schemeClr val="accent3">
                    <a:lumMod val="75000"/>
                  </a:schemeClr>
                </a:solidFill>
              </a:rPr>
              <a:t>                                                                            Abdul </a:t>
            </a:r>
            <a:r>
              <a:rPr lang="en-US" sz="1800" dirty="0" err="1" smtClean="0">
                <a:solidFill>
                  <a:schemeClr val="accent3">
                    <a:lumMod val="75000"/>
                  </a:schemeClr>
                </a:solidFill>
              </a:rPr>
              <a:t>Wahed</a:t>
            </a:r>
            <a:endParaRPr lang="en-US" sz="1800" dirty="0" smtClean="0">
              <a:solidFill>
                <a:schemeClr val="accent3">
                  <a:lumMod val="75000"/>
                </a:schemeClr>
              </a:solidFill>
            </a:endParaRPr>
          </a:p>
          <a:p>
            <a:pPr algn="l"/>
            <a:r>
              <a:rPr lang="en-US" sz="1800" dirty="0" smtClean="0">
                <a:solidFill>
                  <a:schemeClr val="accent3">
                    <a:lumMod val="75000"/>
                  </a:schemeClr>
                </a:solidFill>
              </a:rPr>
              <a:t>Asst. Professor                                                                                                    6</a:t>
            </a:r>
            <a:r>
              <a:rPr lang="en-US" sz="1800" baseline="30000" dirty="0" smtClean="0">
                <a:solidFill>
                  <a:schemeClr val="accent3">
                    <a:lumMod val="75000"/>
                  </a:schemeClr>
                </a:solidFill>
              </a:rPr>
              <a:t>th</a:t>
            </a:r>
            <a:r>
              <a:rPr lang="en-US" sz="1800" dirty="0" smtClean="0">
                <a:solidFill>
                  <a:schemeClr val="accent3">
                    <a:lumMod val="75000"/>
                  </a:schemeClr>
                </a:solidFill>
              </a:rPr>
              <a:t> Semester</a:t>
            </a:r>
          </a:p>
          <a:p>
            <a:pPr algn="l"/>
            <a:r>
              <a:rPr lang="en-US" sz="1800" dirty="0" smtClean="0">
                <a:solidFill>
                  <a:schemeClr val="accent3">
                    <a:lumMod val="75000"/>
                  </a:schemeClr>
                </a:solidFill>
              </a:rPr>
              <a:t>Dept. of Computer Science &amp; </a:t>
            </a:r>
            <a:r>
              <a:rPr lang="en-US" sz="1800" dirty="0" err="1" smtClean="0">
                <a:solidFill>
                  <a:schemeClr val="accent3">
                    <a:lumMod val="75000"/>
                  </a:schemeClr>
                </a:solidFill>
              </a:rPr>
              <a:t>Engg</a:t>
            </a:r>
            <a:r>
              <a:rPr lang="en-US" sz="1800" dirty="0" smtClean="0">
                <a:solidFill>
                  <a:schemeClr val="accent3">
                    <a:lumMod val="75000"/>
                  </a:schemeClr>
                </a:solidFill>
              </a:rPr>
              <a:t>.                                                               Regd. No: F20026007001</a:t>
            </a:r>
            <a:endParaRPr lang="en-US" sz="1800" dirty="0">
              <a:solidFill>
                <a:schemeClr val="accent3">
                  <a:lumMod val="75000"/>
                </a:schemeClr>
              </a:solidFill>
            </a:endParaRPr>
          </a:p>
        </p:txBody>
      </p:sp>
      <p:pic>
        <p:nvPicPr>
          <p:cNvPr id="4" name="Picture 3"/>
          <p:cNvPicPr/>
          <p:nvPr/>
        </p:nvPicPr>
        <p:blipFill>
          <a:blip r:embed="rId2"/>
          <a:stretch>
            <a:fillRect/>
          </a:stretch>
        </p:blipFill>
        <p:spPr>
          <a:xfrm>
            <a:off x="457200" y="457200"/>
            <a:ext cx="854145" cy="9067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800" b="1" dirty="0" smtClean="0"/>
              <a:t>Content:-</a:t>
            </a:r>
            <a:endParaRPr lang="en-US" sz="4800" b="1" dirty="0"/>
          </a:p>
        </p:txBody>
      </p:sp>
      <p:sp>
        <p:nvSpPr>
          <p:cNvPr id="3" name="Content Placeholder 2"/>
          <p:cNvSpPr>
            <a:spLocks noGrp="1"/>
          </p:cNvSpPr>
          <p:nvPr>
            <p:ph idx="1"/>
          </p:nvPr>
        </p:nvSpPr>
        <p:spPr/>
        <p:txBody>
          <a:bodyPr>
            <a:normAutofit lnSpcReduction="10000"/>
          </a:bodyPr>
          <a:lstStyle/>
          <a:p>
            <a:r>
              <a:rPr lang="en-US" dirty="0" smtClean="0"/>
              <a:t>Introduction</a:t>
            </a:r>
          </a:p>
          <a:p>
            <a:r>
              <a:rPr lang="en-US" dirty="0" smtClean="0"/>
              <a:t>Objective</a:t>
            </a:r>
          </a:p>
          <a:p>
            <a:r>
              <a:rPr lang="en-US" dirty="0" smtClean="0"/>
              <a:t>Literature Review</a:t>
            </a:r>
          </a:p>
          <a:p>
            <a:r>
              <a:rPr lang="en-US" dirty="0" smtClean="0"/>
              <a:t>Data collection</a:t>
            </a:r>
          </a:p>
          <a:p>
            <a:r>
              <a:rPr lang="en-US" dirty="0" smtClean="0"/>
              <a:t>Methodology</a:t>
            </a:r>
          </a:p>
          <a:p>
            <a:r>
              <a:rPr lang="en-US" dirty="0" smtClean="0"/>
              <a:t>Result &amp; discussion</a:t>
            </a:r>
          </a:p>
          <a:p>
            <a:r>
              <a:rPr lang="en-US" dirty="0" smtClean="0"/>
              <a:t>Conclusion &amp; future scope</a:t>
            </a:r>
          </a:p>
          <a:p>
            <a:r>
              <a:rPr lang="en-US" dirty="0" smtClean="0"/>
              <a:t>Reference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b="1" dirty="0" smtClean="0"/>
              <a:t>Introduction</a:t>
            </a:r>
            <a:endParaRPr lang="en-US" b="1" dirty="0"/>
          </a:p>
        </p:txBody>
      </p:sp>
      <p:sp>
        <p:nvSpPr>
          <p:cNvPr id="3" name="Content Placeholder 2"/>
          <p:cNvSpPr>
            <a:spLocks noGrp="1"/>
          </p:cNvSpPr>
          <p:nvPr>
            <p:ph idx="1"/>
          </p:nvPr>
        </p:nvSpPr>
        <p:spPr>
          <a:xfrm>
            <a:off x="457200" y="1066800"/>
            <a:ext cx="8229600" cy="5059363"/>
          </a:xfrm>
        </p:spPr>
        <p:txBody>
          <a:bodyPr>
            <a:normAutofit lnSpcReduction="10000"/>
          </a:bodyPr>
          <a:lstStyle/>
          <a:p>
            <a:pPr>
              <a:buNone/>
            </a:pPr>
            <a:r>
              <a:rPr lang="en-US" sz="3600" u="sng" dirty="0" smtClean="0"/>
              <a:t>What is Breast Cancer?</a:t>
            </a:r>
          </a:p>
          <a:p>
            <a:r>
              <a:rPr lang="en-US" sz="2400" dirty="0"/>
              <a:t>After lung cancer, the most dangerous cancer is breast cancer, In India, statistics show that nearly 1,60,000 women were reported with breast cancer out of which more than 85,000 were the cases of death. </a:t>
            </a:r>
            <a:endParaRPr lang="en-US" sz="2400" dirty="0" smtClean="0"/>
          </a:p>
          <a:p>
            <a:endParaRPr lang="en-US" sz="2400" u="sng" dirty="0" smtClean="0"/>
          </a:p>
          <a:p>
            <a:pPr>
              <a:buNone/>
            </a:pPr>
            <a:r>
              <a:rPr lang="en-US" u="sng" dirty="0" smtClean="0"/>
              <a:t>How is it diagnosed usually?</a:t>
            </a:r>
          </a:p>
          <a:p>
            <a:r>
              <a:rPr lang="en-US" sz="2400" dirty="0"/>
              <a:t>A mammogram is an X-ray picture of the breast. Doctors use a mammogram to look for early signs of breast cancer. Regular mammograms are the best tests doctors have to find breast cancer early, sometimes up to three years before it can be felt.</a:t>
            </a:r>
            <a:endParaRPr lang="en-US" sz="2400" u="sng"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u="sng" dirty="0" smtClean="0"/>
              <a:t>Demerits of using manual techniques like FNA(Fine Needle Aspiration).</a:t>
            </a:r>
            <a:endParaRPr lang="en-US" u="sng" dirty="0"/>
          </a:p>
        </p:txBody>
      </p:sp>
      <p:sp>
        <p:nvSpPr>
          <p:cNvPr id="3" name="Content Placeholder 2"/>
          <p:cNvSpPr>
            <a:spLocks noGrp="1"/>
          </p:cNvSpPr>
          <p:nvPr>
            <p:ph idx="1"/>
          </p:nvPr>
        </p:nvSpPr>
        <p:spPr/>
        <p:txBody>
          <a:bodyPr>
            <a:normAutofit/>
          </a:bodyPr>
          <a:lstStyle/>
          <a:p>
            <a:endParaRPr lang="en-US" sz="2400" dirty="0" smtClean="0"/>
          </a:p>
          <a:p>
            <a:r>
              <a:rPr lang="en-US" sz="2400" dirty="0" smtClean="0"/>
              <a:t>One </a:t>
            </a:r>
            <a:r>
              <a:rPr lang="en-US" sz="2400" dirty="0"/>
              <a:t>disadvantage of FNA is that the procedure only removes very small samples of tissue or cells from the breast</a:t>
            </a:r>
            <a:r>
              <a:rPr lang="en-US" sz="2400" dirty="0" smtClean="0"/>
              <a:t>. </a:t>
            </a:r>
          </a:p>
          <a:p>
            <a:endParaRPr lang="en-US" sz="2400" dirty="0"/>
          </a:p>
          <a:p>
            <a:r>
              <a:rPr lang="en-US" sz="2400" dirty="0" smtClean="0"/>
              <a:t>If </a:t>
            </a:r>
            <a:r>
              <a:rPr lang="en-US" sz="2400" dirty="0"/>
              <a:t>the tissue is solid or if a sample of cloudy, suspicious-looking fluid is obtained, the small number of cells </a:t>
            </a:r>
            <a:r>
              <a:rPr lang="en-US" sz="2400" dirty="0" smtClean="0"/>
              <a:t>removed makes it difficult to predict if the cancer is benign or malignant.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u="sng" dirty="0" smtClean="0"/>
              <a:t>Merits of predicting through machine learning.</a:t>
            </a:r>
            <a:endParaRPr lang="en-US" u="sng" dirty="0"/>
          </a:p>
        </p:txBody>
      </p:sp>
      <p:sp>
        <p:nvSpPr>
          <p:cNvPr id="3" name="Content Placeholder 2"/>
          <p:cNvSpPr>
            <a:spLocks noGrp="1"/>
          </p:cNvSpPr>
          <p:nvPr>
            <p:ph idx="1"/>
          </p:nvPr>
        </p:nvSpPr>
        <p:spPr/>
        <p:txBody>
          <a:bodyPr>
            <a:normAutofit/>
          </a:bodyPr>
          <a:lstStyle/>
          <a:p>
            <a:r>
              <a:rPr lang="en-US" sz="2400" dirty="0"/>
              <a:t>Screening often allows for the detection of cancers at an early stage of development. Treatment is then possible without chemotherapy</a:t>
            </a:r>
            <a:r>
              <a:rPr lang="en-US" sz="2400" dirty="0" smtClean="0"/>
              <a:t>.</a:t>
            </a:r>
          </a:p>
          <a:p>
            <a:endParaRPr lang="en-US" sz="2400" dirty="0"/>
          </a:p>
          <a:p>
            <a:r>
              <a:rPr lang="en-US" sz="2400" dirty="0"/>
              <a:t>The vast majority of women (nearly 98 %) will not have breast cancer if their mammograms and additional examinations do not reveal cancers</a:t>
            </a:r>
            <a:r>
              <a:rPr lang="en-US" sz="2400" dirty="0" smtClean="0"/>
              <a:t>.</a:t>
            </a:r>
          </a:p>
          <a:p>
            <a:endParaRPr lang="en-US" sz="2400" dirty="0"/>
          </a:p>
          <a:p>
            <a:r>
              <a:rPr lang="en-US" sz="2400" dirty="0"/>
              <a:t>Of 1,000 women who have a mammogram every 2 years for 20 years, 7 deaths are </a:t>
            </a:r>
            <a:r>
              <a:rPr lang="en-US" sz="2400" dirty="0" smtClean="0"/>
              <a:t>prevented.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pPr algn="l"/>
            <a:r>
              <a:rPr lang="en-US" u="sng" dirty="0" smtClean="0"/>
              <a:t>Objectives.</a:t>
            </a:r>
            <a:endParaRPr lang="en-US" u="sng" dirty="0"/>
          </a:p>
        </p:txBody>
      </p:sp>
      <p:sp>
        <p:nvSpPr>
          <p:cNvPr id="3" name="Content Placeholder 2"/>
          <p:cNvSpPr>
            <a:spLocks noGrp="1"/>
          </p:cNvSpPr>
          <p:nvPr>
            <p:ph idx="1"/>
          </p:nvPr>
        </p:nvSpPr>
        <p:spPr>
          <a:xfrm>
            <a:off x="457200" y="1371600"/>
            <a:ext cx="8229600" cy="4754563"/>
          </a:xfrm>
        </p:spPr>
        <p:txBody>
          <a:bodyPr>
            <a:normAutofit/>
          </a:bodyPr>
          <a:lstStyle/>
          <a:p>
            <a:r>
              <a:rPr lang="en-US" sz="2400" b="1" dirty="0"/>
              <a:t>Early warning</a:t>
            </a:r>
            <a:r>
              <a:rPr lang="en-US" sz="2400" dirty="0"/>
              <a:t>: The main goal of breast cancer prediction is to provide early warnings of being affected by breast cancer. Early warnings can help reduce the mortality rate through breast cancer</a:t>
            </a:r>
            <a:r>
              <a:rPr lang="en-US" sz="2400" dirty="0" smtClean="0"/>
              <a:t>.</a:t>
            </a:r>
          </a:p>
          <a:p>
            <a:endParaRPr lang="en-US" sz="2400" dirty="0"/>
          </a:p>
          <a:p>
            <a:r>
              <a:rPr lang="en-US" sz="2400" b="1" dirty="0"/>
              <a:t>Resource allocation</a:t>
            </a:r>
            <a:r>
              <a:rPr lang="en-US" sz="2400" dirty="0"/>
              <a:t>: </a:t>
            </a:r>
            <a:r>
              <a:rPr lang="en-US" sz="2400" dirty="0" smtClean="0"/>
              <a:t>Another </a:t>
            </a:r>
            <a:r>
              <a:rPr lang="en-US" sz="2400" dirty="0"/>
              <a:t>goal of Breast cancer prediction is to allocate resources efficiently to mitigate the risks associated with breast cancer. </a:t>
            </a:r>
          </a:p>
          <a:p>
            <a:pPr>
              <a:buNone/>
            </a:pP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pPr algn="l"/>
            <a:r>
              <a:rPr lang="en-US" sz="4000" u="sng" dirty="0" smtClean="0"/>
              <a:t>Data Collection.</a:t>
            </a:r>
            <a:endParaRPr lang="en-US" sz="4000" u="sng" dirty="0"/>
          </a:p>
        </p:txBody>
      </p:sp>
      <p:sp>
        <p:nvSpPr>
          <p:cNvPr id="3" name="Content Placeholder 2"/>
          <p:cNvSpPr>
            <a:spLocks noGrp="1"/>
          </p:cNvSpPr>
          <p:nvPr>
            <p:ph idx="1"/>
          </p:nvPr>
        </p:nvSpPr>
        <p:spPr>
          <a:xfrm>
            <a:off x="457200" y="685800"/>
            <a:ext cx="8229600" cy="5791199"/>
          </a:xfrm>
        </p:spPr>
        <p:txBody>
          <a:bodyPr>
            <a:normAutofit/>
          </a:bodyPr>
          <a:lstStyle/>
          <a:p>
            <a:r>
              <a:rPr lang="en-US" sz="2600" dirty="0"/>
              <a:t>The dataset has been collected from </a:t>
            </a:r>
            <a:r>
              <a:rPr lang="en-US" sz="2600" dirty="0" err="1"/>
              <a:t>kaggle</a:t>
            </a:r>
            <a:r>
              <a:rPr lang="en-US" sz="2600" dirty="0"/>
              <a:t> repository that is set is for Breast cancer prediction of Wisconsin, USA. It consists of 569 rows and 33 attributes</a:t>
            </a:r>
            <a:r>
              <a:rPr lang="en-US" sz="2600" dirty="0" smtClean="0"/>
              <a:t>.</a:t>
            </a:r>
          </a:p>
          <a:p>
            <a:endParaRPr lang="en-US" sz="2600" dirty="0"/>
          </a:p>
          <a:p>
            <a:r>
              <a:rPr lang="en-US" sz="2600" dirty="0" smtClean="0"/>
              <a:t> </a:t>
            </a:r>
            <a:r>
              <a:rPr lang="en-US" sz="2600" dirty="0"/>
              <a:t>The attributes are Breast </a:t>
            </a:r>
            <a:r>
              <a:rPr lang="en-US" sz="2600" dirty="0" err="1"/>
              <a:t>radius,texture</a:t>
            </a:r>
            <a:r>
              <a:rPr lang="en-US" sz="2600" dirty="0"/>
              <a:t>, perimeter, </a:t>
            </a:r>
            <a:r>
              <a:rPr lang="en-US" sz="2600" dirty="0" err="1"/>
              <a:t>area,smoothness</a:t>
            </a:r>
            <a:r>
              <a:rPr lang="en-US" sz="2600" dirty="0"/>
              <a:t>, compactness, concavity, concave points, symmetry, and fractal dimension. </a:t>
            </a:r>
            <a:endParaRPr lang="en-US" sz="2600" dirty="0" smtClean="0"/>
          </a:p>
          <a:p>
            <a:endParaRPr lang="en-US" sz="2600" dirty="0"/>
          </a:p>
          <a:p>
            <a:r>
              <a:rPr lang="en-US" sz="2600" dirty="0" smtClean="0"/>
              <a:t>Among </a:t>
            </a:r>
            <a:r>
              <a:rPr lang="en-US" sz="2600" dirty="0"/>
              <a:t>the different variable “</a:t>
            </a:r>
            <a:r>
              <a:rPr lang="en-US" sz="2600" b="1" dirty="0"/>
              <a:t>Diagnosis</a:t>
            </a:r>
            <a:r>
              <a:rPr lang="en-US" sz="2600" dirty="0" smtClean="0"/>
              <a:t>” has </a:t>
            </a:r>
            <a:r>
              <a:rPr lang="en-US" sz="2600" dirty="0"/>
              <a:t>been considered as the output variable and remaining 32 are the input variable .The reference of the data set has been provided in the below link.</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a:buNone/>
            </a:pPr>
            <a:r>
              <a:rPr lang="en-US" dirty="0"/>
              <a:t> </a:t>
            </a:r>
            <a:r>
              <a:rPr lang="en-US" dirty="0" smtClean="0"/>
              <a:t>                            </a:t>
            </a:r>
            <a:r>
              <a:rPr lang="en-US" sz="2800" u="sng" dirty="0" smtClean="0"/>
              <a:t>Breast Cancer Dataset</a:t>
            </a:r>
            <a:endParaRPr lang="en-US" sz="2800" u="sng" dirty="0"/>
          </a:p>
        </p:txBody>
      </p:sp>
      <p:sp>
        <p:nvSpPr>
          <p:cNvPr id="2050" name="Rectangle 2"/>
          <p:cNvSpPr>
            <a:spLocks noChangeArrowheads="1"/>
          </p:cNvSpPr>
          <p:nvPr/>
        </p:nvSpPr>
        <p:spPr bwMode="auto">
          <a:xfrm>
            <a:off x="0" y="0"/>
            <a:ext cx="5298245" cy="70788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1100" dirty="0">
                <a:latin typeface="Arial" pitchFamily="34" charset="0"/>
                <a:ea typeface="Times New Roman" pitchFamily="18" charset="0"/>
                <a:cs typeface="Arial" pitchFamily="34" charset="0"/>
              </a:rPr>
              <a:t> </a:t>
            </a:r>
            <a:r>
              <a:rPr lang="en-US" sz="1100" dirty="0" smtClean="0">
                <a:latin typeface="Arial" pitchFamily="34" charset="0"/>
                <a:ea typeface="Times New Roman" pitchFamily="18" charset="0"/>
                <a:cs typeface="Arial" pitchFamily="34" charset="0"/>
              </a:rPr>
              <a:t>           </a:t>
            </a:r>
            <a:r>
              <a:rPr kumimoji="0" 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Link:-</a:t>
            </a:r>
            <a:r>
              <a:rPr kumimoji="0" 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hlinkClick r:id="rId2"/>
              </a:rPr>
              <a:t>https://www.kaggle.com/datasets/uciml/breast-cancer-wisconsin-data</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2049" name="Picture 26"/>
          <p:cNvPicPr>
            <a:picLocks noChangeAspect="1" noChangeArrowheads="1"/>
          </p:cNvPicPr>
          <p:nvPr/>
        </p:nvPicPr>
        <p:blipFill>
          <a:blip r:embed="rId3"/>
          <a:srcRect l="-111" t="24223" r="2568" b="12218"/>
          <a:stretch>
            <a:fillRect/>
          </a:stretch>
        </p:blipFill>
        <p:spPr bwMode="auto">
          <a:xfrm>
            <a:off x="381000" y="533400"/>
            <a:ext cx="8458200" cy="48006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
            <a:ext cx="8077200" cy="914399"/>
          </a:xfrm>
        </p:spPr>
        <p:txBody>
          <a:bodyPr/>
          <a:lstStyle/>
          <a:p>
            <a:pPr algn="l"/>
            <a:r>
              <a:rPr lang="en-US" u="sng" dirty="0" smtClean="0"/>
              <a:t>Methodology.</a:t>
            </a:r>
            <a:endParaRPr lang="en-US" u="sng" dirty="0"/>
          </a:p>
        </p:txBody>
      </p:sp>
      <p:sp>
        <p:nvSpPr>
          <p:cNvPr id="8" name="Subtitle 7"/>
          <p:cNvSpPr>
            <a:spLocks noGrp="1"/>
          </p:cNvSpPr>
          <p:nvPr>
            <p:ph type="subTitle" idx="1"/>
          </p:nvPr>
        </p:nvSpPr>
        <p:spPr>
          <a:xfrm>
            <a:off x="304800" y="2895600"/>
            <a:ext cx="8534400" cy="3581400"/>
          </a:xfrm>
        </p:spPr>
        <p:txBody>
          <a:bodyPr>
            <a:normAutofit lnSpcReduction="10000"/>
          </a:bodyPr>
          <a:lstStyle/>
          <a:p>
            <a:pPr algn="l"/>
            <a:r>
              <a:rPr lang="en-US" sz="2800" b="1" u="sng" dirty="0" smtClean="0">
                <a:solidFill>
                  <a:schemeClr val="tx1"/>
                </a:solidFill>
              </a:rPr>
              <a:t>Data Collection</a:t>
            </a:r>
          </a:p>
          <a:p>
            <a:pPr marL="0" lvl="3" algn="l">
              <a:buFont typeface="Arial" pitchFamily="34" charset="0"/>
              <a:buChar char="•"/>
            </a:pPr>
            <a:r>
              <a:rPr lang="en-US" dirty="0" smtClean="0">
                <a:solidFill>
                  <a:schemeClr val="tx1"/>
                </a:solidFill>
              </a:rPr>
              <a:t>Using pre-collected data</a:t>
            </a:r>
            <a:r>
              <a:rPr lang="en-US" dirty="0">
                <a:solidFill>
                  <a:schemeClr val="tx1"/>
                </a:solidFill>
              </a:rPr>
              <a:t>, </a:t>
            </a:r>
            <a:r>
              <a:rPr lang="en-US" dirty="0" smtClean="0">
                <a:solidFill>
                  <a:schemeClr val="tx1"/>
                </a:solidFill>
              </a:rPr>
              <a:t>by way of data sets from </a:t>
            </a:r>
            <a:r>
              <a:rPr lang="en-US" dirty="0" err="1" smtClean="0">
                <a:solidFill>
                  <a:schemeClr val="tx1"/>
                </a:solidFill>
              </a:rPr>
              <a:t>Kaggle</a:t>
            </a:r>
            <a:r>
              <a:rPr lang="en-US" dirty="0" smtClean="0">
                <a:solidFill>
                  <a:schemeClr val="tx1"/>
                </a:solidFill>
              </a:rPr>
              <a:t>, UCI, etc., still fits into this step.</a:t>
            </a:r>
          </a:p>
          <a:p>
            <a:pPr marL="0" lvl="3" algn="l"/>
            <a:endParaRPr lang="en-US" dirty="0" smtClean="0">
              <a:solidFill>
                <a:schemeClr val="tx1"/>
              </a:solidFill>
            </a:endParaRPr>
          </a:p>
          <a:p>
            <a:pPr marL="0" lvl="3" algn="l"/>
            <a:r>
              <a:rPr lang="en-US" sz="2800" u="sng" dirty="0" smtClean="0">
                <a:solidFill>
                  <a:schemeClr val="tx1"/>
                </a:solidFill>
              </a:rPr>
              <a:t>Data Preparation</a:t>
            </a:r>
            <a:endParaRPr lang="en-US" sz="2800" u="sng" dirty="0">
              <a:solidFill>
                <a:schemeClr val="tx1"/>
              </a:solidFill>
            </a:endParaRPr>
          </a:p>
          <a:p>
            <a:pPr marL="0" lvl="3" algn="l">
              <a:buFont typeface="Arial" pitchFamily="34" charset="0"/>
              <a:buChar char="•"/>
            </a:pPr>
            <a:r>
              <a:rPr lang="en-US" sz="1800" dirty="0" smtClean="0">
                <a:solidFill>
                  <a:schemeClr val="tx1"/>
                </a:solidFill>
              </a:rPr>
              <a:t>Clean </a:t>
            </a:r>
            <a:r>
              <a:rPr lang="en-US" sz="1800" dirty="0">
                <a:solidFill>
                  <a:schemeClr val="tx1"/>
                </a:solidFill>
              </a:rPr>
              <a:t>that which may require it (remove duplicates, correct errors, deal with missing </a:t>
            </a:r>
            <a:r>
              <a:rPr lang="en-US" sz="1800" dirty="0" smtClean="0">
                <a:solidFill>
                  <a:schemeClr val="tx1"/>
                </a:solidFill>
              </a:rPr>
              <a:t>values, normalization, data type, conversions</a:t>
            </a:r>
            <a:r>
              <a:rPr lang="en-US" sz="1800" dirty="0">
                <a:solidFill>
                  <a:schemeClr val="tx1"/>
                </a:solidFill>
              </a:rPr>
              <a:t>, etc</a:t>
            </a:r>
            <a:r>
              <a:rPr lang="en-US" sz="1800" dirty="0" smtClean="0">
                <a:solidFill>
                  <a:schemeClr val="tx1"/>
                </a:solidFill>
              </a:rPr>
              <a:t>.)</a:t>
            </a:r>
          </a:p>
          <a:p>
            <a:pPr marL="0" lvl="3" algn="l"/>
            <a:endParaRPr lang="en-US" sz="1800" dirty="0">
              <a:solidFill>
                <a:schemeClr val="tx1"/>
              </a:solidFill>
            </a:endParaRPr>
          </a:p>
          <a:p>
            <a:pPr marL="0" lvl="3" algn="l">
              <a:buFont typeface="Arial" pitchFamily="34" charset="0"/>
              <a:buChar char="•"/>
            </a:pPr>
            <a:r>
              <a:rPr lang="en-US" sz="1800" dirty="0" smtClean="0">
                <a:solidFill>
                  <a:schemeClr val="tx1"/>
                </a:solidFill>
              </a:rPr>
              <a:t>Randomize data, which erases the effects of the particular order in which we collected and/or other wise prepared our data</a:t>
            </a:r>
            <a:endParaRPr lang="en-US" sz="1800" dirty="0">
              <a:solidFill>
                <a:schemeClr val="tx1"/>
              </a:solidFill>
            </a:endParaRPr>
          </a:p>
          <a:p>
            <a:pPr marL="0" lvl="3" algn="l"/>
            <a:endParaRPr lang="en-US" sz="1800" dirty="0"/>
          </a:p>
          <a:p>
            <a:pPr algn="l"/>
            <a:endParaRPr lang="en-US" dirty="0"/>
          </a:p>
        </p:txBody>
      </p:sp>
      <p:pic>
        <p:nvPicPr>
          <p:cNvPr id="4" name="Content Placeholder 3"/>
          <p:cNvPicPr>
            <a:picLocks noGrp="1"/>
          </p:cNvPicPr>
          <p:nvPr>
            <p:ph idx="4294967295"/>
          </p:nvPr>
        </p:nvPicPr>
        <p:blipFill rotWithShape="1">
          <a:blip r:embed="rId3"/>
          <a:srcRect l="3052" t="34126" r="44914" b="29680"/>
          <a:stretch/>
        </p:blipFill>
        <p:spPr bwMode="auto">
          <a:xfrm>
            <a:off x="533400" y="762000"/>
            <a:ext cx="8610600" cy="2209800"/>
          </a:xfrm>
          <a:prstGeom prst="rect">
            <a:avLst/>
          </a:prstGeom>
          <a:ln>
            <a:noFill/>
          </a:ln>
          <a:extLst>
            <a:ext uri="{53640926-AAD7-44D8-BBD7-CCE9431645EC}">
              <a14:shadowObscured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lstStyle/>
          <a:p>
            <a:pPr>
              <a:buNone/>
            </a:pPr>
            <a:r>
              <a:rPr lang="en-US" sz="2800" b="1" u="sng" dirty="0" smtClean="0"/>
              <a:t>Train the Model</a:t>
            </a:r>
          </a:p>
          <a:p>
            <a:r>
              <a:rPr lang="en-US" sz="2000" dirty="0" smtClean="0"/>
              <a:t>Different algorithms are for different tasks, choose the right one.</a:t>
            </a:r>
          </a:p>
          <a:p>
            <a:pPr>
              <a:buNone/>
            </a:pPr>
            <a:endParaRPr lang="en-US" sz="2000" dirty="0" smtClean="0"/>
          </a:p>
          <a:p>
            <a:r>
              <a:rPr lang="en-US" sz="2000" dirty="0" smtClean="0"/>
              <a:t>The goal of training is to answer a question or make a prediction correctly as often as possible</a:t>
            </a:r>
          </a:p>
          <a:p>
            <a:pPr>
              <a:buNone/>
            </a:pPr>
            <a:endParaRPr lang="en-US" sz="2000" dirty="0"/>
          </a:p>
          <a:p>
            <a:pPr>
              <a:buNone/>
            </a:pPr>
            <a:r>
              <a:rPr lang="en-US" b="1" u="sng" dirty="0" smtClean="0"/>
              <a:t>Evaluate the Model</a:t>
            </a:r>
          </a:p>
          <a:p>
            <a:pPr marL="342900" lvl="3" indent="-342900">
              <a:buFont typeface="Arial" pitchFamily="34" charset="0"/>
              <a:buChar char="•"/>
            </a:pPr>
            <a:r>
              <a:rPr lang="en-US" dirty="0" smtClean="0"/>
              <a:t>Uses some metric or combination of metrics to "measure“ objective performance of model</a:t>
            </a:r>
          </a:p>
          <a:p>
            <a:pPr marL="342900" lvl="3" indent="-342900">
              <a:buNone/>
            </a:pPr>
            <a:endParaRPr lang="en-US" sz="1800" dirty="0" smtClean="0"/>
          </a:p>
          <a:p>
            <a:pPr marL="342900" lvl="3" indent="-342900">
              <a:buNone/>
            </a:pPr>
            <a:r>
              <a:rPr lang="en-US" sz="3200" b="1" u="sng" dirty="0" smtClean="0"/>
              <a:t>Make Predictions</a:t>
            </a:r>
          </a:p>
          <a:p>
            <a:pPr marL="342900" lvl="3" indent="-342900">
              <a:buFont typeface="Arial" pitchFamily="34" charset="0"/>
              <a:buChar char="•"/>
            </a:pPr>
            <a:r>
              <a:rPr lang="en-US" dirty="0" smtClean="0"/>
              <a:t>Using </a:t>
            </a:r>
            <a:r>
              <a:rPr lang="en-US" dirty="0"/>
              <a:t>further (test set) data which have, until this point, been withheld from the model (</a:t>
            </a:r>
            <a:r>
              <a:rPr lang="en-US" dirty="0" smtClean="0"/>
              <a:t>and for </a:t>
            </a:r>
            <a:r>
              <a:rPr lang="en-US" dirty="0"/>
              <a:t>which class labels are known), are used to test the model; a better approximation of </a:t>
            </a:r>
            <a:r>
              <a:rPr lang="en-US" dirty="0" smtClean="0"/>
              <a:t>how the model </a:t>
            </a:r>
            <a:r>
              <a:rPr lang="en-US" dirty="0"/>
              <a:t>will perform in the real </a:t>
            </a:r>
            <a:r>
              <a:rPr lang="en-US" dirty="0" smtClean="0"/>
              <a:t>world.</a:t>
            </a:r>
            <a:endParaRPr lang="en-US" sz="1800" dirty="0"/>
          </a:p>
          <a:p>
            <a:pPr>
              <a:buNone/>
            </a:pPr>
            <a:endParaRPr lang="en-US" b="1" u="sng"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a:bodyPr>
          <a:lstStyle/>
          <a:p>
            <a:pPr algn="l"/>
            <a:r>
              <a:rPr lang="en-US" sz="3200" b="1" u="sng" dirty="0" smtClean="0"/>
              <a:t>SVM</a:t>
            </a:r>
            <a:endParaRPr lang="en-US" sz="3200" b="1" u="sng" dirty="0"/>
          </a:p>
        </p:txBody>
      </p:sp>
      <p:sp>
        <p:nvSpPr>
          <p:cNvPr id="3" name="Content Placeholder 2"/>
          <p:cNvSpPr>
            <a:spLocks noGrp="1"/>
          </p:cNvSpPr>
          <p:nvPr>
            <p:ph idx="1"/>
          </p:nvPr>
        </p:nvSpPr>
        <p:spPr>
          <a:xfrm>
            <a:off x="457200" y="762000"/>
            <a:ext cx="8229600" cy="5364163"/>
          </a:xfrm>
        </p:spPr>
        <p:txBody>
          <a:bodyPr>
            <a:normAutofit/>
          </a:bodyPr>
          <a:lstStyle/>
          <a:p>
            <a:r>
              <a:rPr lang="en-US" sz="2000" dirty="0"/>
              <a:t>SVM is a powerful supervised algorithm that works best on smaller datasets but on complex ones. Support Vector Machine, abbreviated as SVM can be used for both regression and classification tasks, but generally, they work best in classification problems</a:t>
            </a:r>
            <a:r>
              <a:rPr lang="en-US" sz="2000" dirty="0" smtClean="0"/>
              <a:t>.</a:t>
            </a:r>
          </a:p>
          <a:p>
            <a:endParaRPr lang="en-US" sz="2000" dirty="0"/>
          </a:p>
          <a:p>
            <a:r>
              <a:rPr lang="en-US" sz="2000" dirty="0"/>
              <a:t>As the severity of different kinds of mistakes varies across use cases, the metrics such as </a:t>
            </a:r>
            <a:r>
              <a:rPr lang="en-US" sz="2000" i="1" dirty="0"/>
              <a:t>Precision</a:t>
            </a:r>
            <a:r>
              <a:rPr lang="en-US" sz="2000" dirty="0"/>
              <a:t>, </a:t>
            </a:r>
            <a:r>
              <a:rPr lang="en-US" sz="2000" i="1" dirty="0"/>
              <a:t>Recall</a:t>
            </a:r>
            <a:r>
              <a:rPr lang="en-US" sz="2000" dirty="0"/>
              <a:t>, </a:t>
            </a:r>
            <a:r>
              <a:rPr lang="en-US" sz="2000" i="1" dirty="0"/>
              <a:t>F1-score and Support</a:t>
            </a:r>
            <a:r>
              <a:rPr lang="en-US" sz="2000" dirty="0"/>
              <a:t> can be used to balance the classifier estimates as preferred</a:t>
            </a:r>
            <a:r>
              <a:rPr lang="en-US" sz="2000" dirty="0" smtClean="0"/>
              <a:t>.</a:t>
            </a:r>
          </a:p>
          <a:p>
            <a:pPr>
              <a:buNone/>
            </a:pPr>
            <a:r>
              <a:rPr lang="en-US" b="1" u="sng" dirty="0"/>
              <a:t>Precision</a:t>
            </a:r>
          </a:p>
          <a:p>
            <a:r>
              <a:rPr lang="en-IN" sz="2000" i="1" dirty="0"/>
              <a:t>Precision</a:t>
            </a:r>
            <a:r>
              <a:rPr lang="en-IN" sz="2000" dirty="0"/>
              <a:t> is a measure of how many of the positive predictions made are correct (true positives). The formula for it is</a:t>
            </a:r>
            <a:r>
              <a:rPr lang="en-IN" sz="2000" dirty="0" smtClean="0"/>
              <a:t>:</a:t>
            </a:r>
          </a:p>
          <a:p>
            <a:endParaRPr lang="en-US" sz="2000" dirty="0"/>
          </a:p>
          <a:p>
            <a:endParaRPr lang="en-US" sz="2000" dirty="0"/>
          </a:p>
          <a:p>
            <a:endParaRPr lang="en-US" sz="2000" dirty="0"/>
          </a:p>
        </p:txBody>
      </p:sp>
      <p:pic>
        <p:nvPicPr>
          <p:cNvPr id="5" name="Picture 4" descr="https://miro.medium.com/v2/resize:fit:700/1*Ea-PY3xiWfjJ0Yblcc32nQ.png"/>
          <p:cNvPicPr/>
          <p:nvPr/>
        </p:nvPicPr>
        <p:blipFill>
          <a:blip r:embed="rId2">
            <a:extLst>
              <a:ext uri="{28A0092B-C50C-407E-A947-70E740481C1C}">
                <a14:useLocalDpi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304800" y="4724400"/>
            <a:ext cx="8610600" cy="1752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629400"/>
          </a:xfrm>
        </p:spPr>
        <p:txBody>
          <a:bodyPr>
            <a:normAutofit/>
          </a:bodyPr>
          <a:lstStyle/>
          <a:p>
            <a:pPr>
              <a:buNone/>
            </a:pPr>
            <a:r>
              <a:rPr lang="en-US" b="1" u="sng" dirty="0"/>
              <a:t>Recall</a:t>
            </a:r>
          </a:p>
          <a:p>
            <a:r>
              <a:rPr lang="en-IN" sz="2000" dirty="0"/>
              <a:t>Recall is a measure of how many of the positive cases the classifier correctly predicted, over all the positive cases in the </a:t>
            </a:r>
            <a:r>
              <a:rPr lang="en-IN" sz="2000" dirty="0" smtClean="0"/>
              <a:t>data</a:t>
            </a:r>
            <a:r>
              <a:rPr lang="en-IN" sz="2000" i="1" dirty="0" smtClean="0"/>
              <a:t>.</a:t>
            </a:r>
            <a:r>
              <a:rPr lang="en-IN" sz="2000" i="1" dirty="0"/>
              <a:t> </a:t>
            </a:r>
            <a:r>
              <a:rPr lang="en-IN" sz="2000" dirty="0"/>
              <a:t>The </a:t>
            </a:r>
            <a:r>
              <a:rPr lang="en-IN" sz="2000" dirty="0" smtClean="0"/>
              <a:t>formula </a:t>
            </a:r>
            <a:r>
              <a:rPr lang="en-IN" sz="2000" dirty="0"/>
              <a:t>is:</a:t>
            </a:r>
            <a:endParaRPr lang="en-US" sz="2000" dirty="0"/>
          </a:p>
          <a:p>
            <a:endParaRPr lang="en-US" dirty="0" smtClean="0"/>
          </a:p>
          <a:p>
            <a:pPr>
              <a:buNone/>
            </a:pPr>
            <a:endParaRPr lang="en-US" sz="2000" dirty="0" smtClean="0"/>
          </a:p>
          <a:p>
            <a:pPr>
              <a:buNone/>
            </a:pPr>
            <a:endParaRPr lang="en-US" sz="2000" dirty="0"/>
          </a:p>
          <a:p>
            <a:pPr>
              <a:buNone/>
            </a:pPr>
            <a:r>
              <a:rPr lang="en-US" b="1" u="sng" dirty="0" smtClean="0"/>
              <a:t>F1-Score</a:t>
            </a:r>
            <a:endParaRPr lang="en-IN" sz="2000" dirty="0"/>
          </a:p>
          <a:p>
            <a:r>
              <a:rPr lang="en-US" sz="2000" dirty="0"/>
              <a:t>F1-Score is a measure combining both precision and recall. It is </a:t>
            </a:r>
            <a:r>
              <a:rPr lang="en-IN" sz="2000" dirty="0" smtClean="0"/>
              <a:t>described </a:t>
            </a:r>
            <a:r>
              <a:rPr lang="en-IN" sz="2000" dirty="0"/>
              <a:t>as the harmonic mean of the two. Harmonic mean is just another way to calculate an “average” of values, generally described as more suitable for ratios (such as precision and recall) than the traditional arithmetic mean. The formula used for F1-score in this case is</a:t>
            </a:r>
            <a:r>
              <a:rPr lang="en-IN" sz="2000" dirty="0" smtClean="0"/>
              <a:t>:</a:t>
            </a:r>
            <a:endParaRPr lang="en-US" sz="2000" dirty="0" smtClean="0"/>
          </a:p>
          <a:p>
            <a:pPr>
              <a:buNone/>
            </a:pPr>
            <a:endParaRPr lang="en-US" sz="2000" dirty="0"/>
          </a:p>
          <a:p>
            <a:pPr>
              <a:buNone/>
            </a:pPr>
            <a:endParaRPr lang="en-US" sz="2000" dirty="0"/>
          </a:p>
          <a:p>
            <a:r>
              <a:rPr lang="en-US" sz="2000" dirty="0"/>
              <a:t>The idea is to provide a single metric that weights the two ratios (precision and recall) in a balanced way, </a:t>
            </a:r>
            <a:r>
              <a:rPr lang="en-US" sz="2000" dirty="0" smtClean="0"/>
              <a:t>requiring </a:t>
            </a:r>
            <a:r>
              <a:rPr lang="en-US" sz="2000" dirty="0"/>
              <a:t>both to have a higher value for the F1-score value to rise.</a:t>
            </a:r>
          </a:p>
          <a:p>
            <a:endParaRPr lang="en-US" sz="2000" dirty="0"/>
          </a:p>
        </p:txBody>
      </p:sp>
      <p:pic>
        <p:nvPicPr>
          <p:cNvPr id="4" name="Picture 3" descr="https://miro.medium.com/v2/resize:fit:700/1*_5c4WTqNJQAdz_lrzVotlg.png"/>
          <p:cNvPicPr/>
          <p:nvPr/>
        </p:nvPicPr>
        <p:blipFill>
          <a:blip r:embed="rId2">
            <a:extLst>
              <a:ext uri="{28A0092B-C50C-407E-A947-70E740481C1C}">
                <a14:useLocalDpi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457200" y="1295400"/>
            <a:ext cx="8001000" cy="1143000"/>
          </a:xfrm>
          <a:prstGeom prst="rect">
            <a:avLst/>
          </a:prstGeom>
          <a:noFill/>
          <a:ln>
            <a:noFill/>
          </a:ln>
        </p:spPr>
      </p:pic>
      <p:pic>
        <p:nvPicPr>
          <p:cNvPr id="5" name="Picture 4" descr="https://miro.medium.com/v2/resize:fit:268/1*jctgM8dGBuN2Ia1IbbaMKw.png"/>
          <p:cNvPicPr/>
          <p:nvPr/>
        </p:nvPicPr>
        <p:blipFill>
          <a:blip r:embed="rId3">
            <a:extLst>
              <a:ext uri="{28A0092B-C50C-407E-A947-70E740481C1C}">
                <a14:useLocalDpi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5486400" y="4572000"/>
            <a:ext cx="2242023" cy="82729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a:bodyPr>
          <a:lstStyle/>
          <a:p>
            <a:pPr algn="l"/>
            <a:r>
              <a:rPr lang="en-US" sz="3200" b="1" u="sng" dirty="0" smtClean="0"/>
              <a:t>Result</a:t>
            </a:r>
            <a:endParaRPr lang="en-US" sz="3200" b="1" u="sng" dirty="0"/>
          </a:p>
        </p:txBody>
      </p:sp>
      <p:sp>
        <p:nvSpPr>
          <p:cNvPr id="3" name="Content Placeholder 2"/>
          <p:cNvSpPr>
            <a:spLocks noGrp="1"/>
          </p:cNvSpPr>
          <p:nvPr>
            <p:ph idx="1"/>
          </p:nvPr>
        </p:nvSpPr>
        <p:spPr>
          <a:xfrm>
            <a:off x="457200" y="762000"/>
            <a:ext cx="8229600" cy="6096000"/>
          </a:xfrm>
        </p:spPr>
        <p:txBody>
          <a:bodyPr>
            <a:normAutofit/>
          </a:bodyPr>
          <a:lstStyle/>
          <a:p>
            <a:pPr>
              <a:buNone/>
            </a:pPr>
            <a:r>
              <a:rPr lang="en-US" sz="2800" u="sng" dirty="0" smtClean="0"/>
              <a:t>Confusion Matrix</a:t>
            </a:r>
          </a:p>
          <a:p>
            <a:pPr>
              <a:buNone/>
            </a:pPr>
            <a:r>
              <a:rPr lang="en-US" sz="1800" dirty="0"/>
              <a:t>In the context of breast cancer prediction, the confusion </a:t>
            </a:r>
            <a:r>
              <a:rPr lang="en-US" sz="1800" dirty="0" smtClean="0"/>
              <a:t>matrix can </a:t>
            </a:r>
            <a:r>
              <a:rPr lang="en-US" sz="1800" dirty="0"/>
              <a:t>be constructed as follows:</a:t>
            </a:r>
          </a:p>
          <a:p>
            <a:pPr lvl="0"/>
            <a:r>
              <a:rPr lang="en-US" sz="1800" b="1" dirty="0"/>
              <a:t>True Positive (TP)</a:t>
            </a:r>
            <a:r>
              <a:rPr lang="en-US" sz="1800" dirty="0"/>
              <a:t>: This represents the number of breast cancer instances that were correctly predicted as malignant by the model.</a:t>
            </a:r>
            <a:endParaRPr lang="en-US" sz="1800" dirty="0" smtClean="0"/>
          </a:p>
          <a:p>
            <a:pPr lvl="0"/>
            <a:r>
              <a:rPr lang="en-US" sz="1800" b="1" dirty="0"/>
              <a:t>True Negative (TN)</a:t>
            </a:r>
            <a:r>
              <a:rPr lang="en-US" sz="1800" dirty="0"/>
              <a:t>: This represents the number of non-breast cancer instances that were correctly predicted as benign by the model.</a:t>
            </a:r>
            <a:endParaRPr lang="en-US" sz="1800" dirty="0" smtClean="0"/>
          </a:p>
          <a:p>
            <a:pPr lvl="0"/>
            <a:r>
              <a:rPr lang="en-US" sz="1800" b="1" dirty="0"/>
              <a:t>False Positive (FP)</a:t>
            </a:r>
            <a:r>
              <a:rPr lang="en-US" sz="1800" dirty="0"/>
              <a:t>: This represents the number of non-breast cancer instances that were incorrectly predicted as malignant by the model (also known as a Type I error).</a:t>
            </a:r>
            <a:endParaRPr lang="en-US" sz="1800" dirty="0" smtClean="0"/>
          </a:p>
          <a:p>
            <a:pPr lvl="0"/>
            <a:r>
              <a:rPr lang="en-US" sz="1800" b="1" dirty="0"/>
              <a:t>False Negative (FN)</a:t>
            </a:r>
            <a:r>
              <a:rPr lang="en-US" sz="1800" dirty="0"/>
              <a:t>: This represents the number of breast cancer instances that were incorrectly predicted as benign by the model (also known as a Type II error</a:t>
            </a:r>
            <a:r>
              <a:rPr lang="en-US" sz="1800" dirty="0" smtClean="0"/>
              <a:t>).</a:t>
            </a:r>
          </a:p>
          <a:p>
            <a:pPr>
              <a:buNone/>
            </a:pPr>
            <a:r>
              <a:rPr lang="en-US" sz="1800" b="1" u="sng" dirty="0"/>
              <a:t>Confusion Matrix for Logistic Regression</a:t>
            </a:r>
            <a:r>
              <a:rPr lang="en-US" sz="1800" b="1" dirty="0"/>
              <a:t>:</a:t>
            </a:r>
            <a:endParaRPr lang="en-US" sz="1800" dirty="0" smtClean="0"/>
          </a:p>
          <a:p>
            <a:pPr>
              <a:buNone/>
            </a:pPr>
            <a:endParaRPr lang="en-US" sz="2400" dirty="0"/>
          </a:p>
          <a:p>
            <a:pPr lvl="0"/>
            <a:endParaRPr lang="en-US" sz="2400" dirty="0" smtClean="0"/>
          </a:p>
          <a:p>
            <a:pPr lvl="0"/>
            <a:endParaRPr lang="en-US" sz="2400" dirty="0" smtClean="0"/>
          </a:p>
          <a:p>
            <a:pPr>
              <a:buNone/>
            </a:pPr>
            <a:endParaRPr lang="en-US" sz="2800" dirty="0"/>
          </a:p>
        </p:txBody>
      </p:sp>
      <p:graphicFrame>
        <p:nvGraphicFramePr>
          <p:cNvPr id="4" name="Table 3"/>
          <p:cNvGraphicFramePr>
            <a:graphicFrameLocks noGrp="1"/>
          </p:cNvGraphicFramePr>
          <p:nvPr/>
        </p:nvGraphicFramePr>
        <p:xfrm>
          <a:off x="838200" y="5181600"/>
          <a:ext cx="7848600" cy="1112520"/>
        </p:xfrm>
        <a:graphic>
          <a:graphicData uri="http://schemas.openxmlformats.org/drawingml/2006/table">
            <a:tbl>
              <a:tblPr firstRow="1" bandRow="1">
                <a:tableStyleId>{5940675A-B579-460E-94D1-54222C63F5DA}</a:tableStyleId>
              </a:tblPr>
              <a:tblGrid>
                <a:gridCol w="2616200"/>
                <a:gridCol w="2616200"/>
                <a:gridCol w="2616200"/>
              </a:tblGrid>
              <a:tr h="37084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b="1" dirty="0" smtClean="0"/>
                        <a:t>PREDICTED  MALIGNANT</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b="1" dirty="0" smtClean="0"/>
                        <a:t>PREDICTED BENIGN</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pPr algn="ctr"/>
                      <a:r>
                        <a:rPr lang="en-US" b="1" dirty="0" smtClean="0"/>
                        <a:t>ACTUAL</a:t>
                      </a:r>
                      <a:r>
                        <a:rPr lang="en-US" b="1" baseline="0" dirty="0" smtClean="0"/>
                        <a:t>  MALIGNANT</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smtClean="0"/>
                        <a:t>TRUE POSITIVE (TP)</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smtClean="0"/>
                        <a:t>      FALSE NEGATIVE (FN)</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pPr algn="ctr"/>
                      <a:r>
                        <a:rPr lang="en-US" b="1" dirty="0" smtClean="0"/>
                        <a:t>ACTUAL BENIGN</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smtClean="0"/>
                        <a:t>FALSE POSITIVE (FP)</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smtClean="0"/>
                        <a:t>      TRUE NEGATIVE</a:t>
                      </a:r>
                      <a:r>
                        <a:rPr lang="en-US" baseline="0" dirty="0" smtClean="0"/>
                        <a:t> (TN)</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rotWithShape="1">
          <a:blip r:embed="rId2"/>
          <a:srcRect l="10551" t="8946" r="10745" b="5326"/>
          <a:stretch/>
        </p:blipFill>
        <p:spPr bwMode="auto">
          <a:xfrm>
            <a:off x="381000" y="609600"/>
            <a:ext cx="8305800" cy="5516563"/>
          </a:xfrm>
          <a:prstGeom prst="rect">
            <a:avLst/>
          </a:prstGeom>
          <a:ln>
            <a:noFill/>
          </a:ln>
          <a:extLst>
            <a:ext uri="{53640926-AAD7-44D8-BBD7-CCE9431645EC}">
              <a14:shadowObscured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pPr algn="l"/>
            <a:r>
              <a:rPr lang="en-US" sz="2800" b="1" u="sng" dirty="0" smtClean="0"/>
              <a:t>Output &amp; Result</a:t>
            </a:r>
            <a:endParaRPr lang="en-US" sz="2800" b="1" u="sng" dirty="0"/>
          </a:p>
        </p:txBody>
      </p:sp>
      <p:pic>
        <p:nvPicPr>
          <p:cNvPr id="5" name="Picture 4"/>
          <p:cNvPicPr/>
          <p:nvPr/>
        </p:nvPicPr>
        <p:blipFill rotWithShape="1">
          <a:blip r:embed="rId2"/>
          <a:srcRect l="23999" t="28828" r="38147" b="19040"/>
          <a:stretch/>
        </p:blipFill>
        <p:spPr bwMode="auto">
          <a:xfrm>
            <a:off x="304800" y="685800"/>
            <a:ext cx="8305800" cy="2743200"/>
          </a:xfrm>
          <a:prstGeom prst="rect">
            <a:avLst/>
          </a:prstGeom>
          <a:ln>
            <a:noFill/>
          </a:ln>
          <a:extLst>
            <a:ext uri="{53640926-AAD7-44D8-BBD7-CCE9431645EC}">
              <a14:shadowObscured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a:ext>
          </a:extLst>
        </p:spPr>
      </p:pic>
      <p:pic>
        <p:nvPicPr>
          <p:cNvPr id="7" name="Picture 6"/>
          <p:cNvPicPr/>
          <p:nvPr/>
        </p:nvPicPr>
        <p:blipFill rotWithShape="1">
          <a:blip r:embed="rId3"/>
          <a:srcRect l="26288" t="36951" r="43024" b="24654"/>
          <a:stretch/>
        </p:blipFill>
        <p:spPr bwMode="auto">
          <a:xfrm>
            <a:off x="381000" y="3733800"/>
            <a:ext cx="8153400" cy="2743200"/>
          </a:xfrm>
          <a:prstGeom prst="rect">
            <a:avLst/>
          </a:prstGeom>
          <a:ln>
            <a:noFill/>
          </a:ln>
          <a:extLst>
            <a:ext uri="{53640926-AAD7-44D8-BBD7-CCE9431645EC}">
              <a14:shadowObscured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algn="l"/>
            <a:r>
              <a:rPr lang="en-US" sz="3200" b="1" u="sng" dirty="0" smtClean="0"/>
              <a:t>Conclusion &amp; Future Scope</a:t>
            </a:r>
            <a:endParaRPr lang="en-US" sz="3200" b="1" u="sng" dirty="0"/>
          </a:p>
        </p:txBody>
      </p:sp>
      <p:sp>
        <p:nvSpPr>
          <p:cNvPr id="3" name="Content Placeholder 2"/>
          <p:cNvSpPr>
            <a:spLocks noGrp="1"/>
          </p:cNvSpPr>
          <p:nvPr>
            <p:ph idx="1"/>
          </p:nvPr>
        </p:nvSpPr>
        <p:spPr>
          <a:xfrm>
            <a:off x="457200" y="838200"/>
            <a:ext cx="8229600" cy="5287963"/>
          </a:xfrm>
        </p:spPr>
        <p:txBody>
          <a:bodyPr>
            <a:normAutofit/>
          </a:bodyPr>
          <a:lstStyle/>
          <a:p>
            <a:r>
              <a:rPr lang="en-US" sz="2000" dirty="0"/>
              <a:t>The primary objective of the examination is to increase the precision of the breast cancer conclusion by further developing breast malignant growth expectations. </a:t>
            </a:r>
            <a:endParaRPr lang="en-US" sz="2000" dirty="0" smtClean="0"/>
          </a:p>
          <a:p>
            <a:endParaRPr lang="en-US" sz="2000" dirty="0"/>
          </a:p>
          <a:p>
            <a:r>
              <a:rPr lang="en-US" sz="2000" dirty="0"/>
              <a:t>. In our research, we used SVM (Support Vector Machine) algorithms with the highest F1-scores, with 95 </a:t>
            </a:r>
            <a:r>
              <a:rPr lang="en-US" sz="2000" dirty="0" err="1"/>
              <a:t>percent.By</a:t>
            </a:r>
            <a:r>
              <a:rPr lang="en-US" sz="2000" dirty="0"/>
              <a:t> using Google </a:t>
            </a:r>
            <a:r>
              <a:rPr lang="en-US" sz="2000" dirty="0" err="1"/>
              <a:t>Colab</a:t>
            </a:r>
            <a:r>
              <a:rPr lang="en-US" sz="2000" dirty="0"/>
              <a:t>, the total runtime of each algorithm was approximately 2-3 minutes. </a:t>
            </a:r>
            <a:endParaRPr lang="en-US" sz="2000" dirty="0" smtClean="0"/>
          </a:p>
          <a:p>
            <a:endParaRPr lang="en-US" sz="2000" dirty="0"/>
          </a:p>
          <a:p>
            <a:r>
              <a:rPr lang="en-US" sz="2000" dirty="0"/>
              <a:t>This will increase dependability and improve the exhibition of the framework. By just contributing MRI information, the ML framework can assist the overall population in finding out about the chance of cancer in grown-up patients. Hopefully, it will help people get cancer treatment early and work on their lives</a:t>
            </a:r>
            <a:r>
              <a:rPr lang="en-US" sz="2000" dirty="0" smtClean="0"/>
              <a: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pPr algn="l"/>
            <a:r>
              <a:rPr lang="en-US" dirty="0" smtClean="0"/>
              <a:t>References</a:t>
            </a:r>
            <a:endParaRPr lang="en-US" dirty="0"/>
          </a:p>
        </p:txBody>
      </p:sp>
      <p:sp>
        <p:nvSpPr>
          <p:cNvPr id="3" name="Content Placeholder 2"/>
          <p:cNvSpPr>
            <a:spLocks noGrp="1"/>
          </p:cNvSpPr>
          <p:nvPr>
            <p:ph idx="1"/>
          </p:nvPr>
        </p:nvSpPr>
        <p:spPr>
          <a:xfrm>
            <a:off x="457200" y="838200"/>
            <a:ext cx="8229600" cy="5715000"/>
          </a:xfrm>
        </p:spPr>
        <p:txBody>
          <a:bodyPr>
            <a:normAutofit fontScale="25000" lnSpcReduction="20000"/>
          </a:bodyPr>
          <a:lstStyle/>
          <a:p>
            <a:pPr>
              <a:buNone/>
            </a:pPr>
            <a:endParaRPr lang="en-US" dirty="0"/>
          </a:p>
          <a:p>
            <a:pPr lvl="0" fontAlgn="base"/>
            <a:r>
              <a:rPr lang="en-US" sz="7200" dirty="0"/>
              <a:t>Ali, E. E. E., &amp; </a:t>
            </a:r>
            <a:r>
              <a:rPr lang="en-US" sz="7200" dirty="0" err="1"/>
              <a:t>Feng</a:t>
            </a:r>
            <a:r>
              <a:rPr lang="en-US" sz="7200" dirty="0"/>
              <a:t>, W. Z. (2016). Breast cancer classification using support vector machine and neural network. International Journal of Science and Research, 5(3), 1-6.</a:t>
            </a:r>
          </a:p>
          <a:p>
            <a:pPr lvl="0" fontAlgn="base"/>
            <a:r>
              <a:rPr lang="en-US" sz="7200" dirty="0" err="1"/>
              <a:t>Amit</a:t>
            </a:r>
            <a:r>
              <a:rPr lang="en-US" sz="7200" dirty="0"/>
              <a:t> </a:t>
            </a:r>
            <a:r>
              <a:rPr lang="en-US" sz="7200" dirty="0" err="1"/>
              <a:t>Bhola</a:t>
            </a:r>
            <a:r>
              <a:rPr lang="en-US" sz="7200" dirty="0"/>
              <a:t>, </a:t>
            </a:r>
            <a:r>
              <a:rPr lang="en-US" sz="7200" dirty="0" err="1"/>
              <a:t>Arvind</a:t>
            </a:r>
            <a:r>
              <a:rPr lang="en-US" sz="7200" dirty="0"/>
              <a:t> Kumar </a:t>
            </a:r>
            <a:r>
              <a:rPr lang="en-US" sz="7200" dirty="0" err="1"/>
              <a:t>Tiwari</a:t>
            </a:r>
            <a:r>
              <a:rPr lang="en-US" sz="7200" dirty="0"/>
              <a:t>, December 2015, “Machine Learning Based Approaches for Cancer Classification using Gene Expression Data.”, </a:t>
            </a:r>
            <a:r>
              <a:rPr lang="en-US" sz="7200" dirty="0" err="1"/>
              <a:t>MachineLearning</a:t>
            </a:r>
            <a:r>
              <a:rPr lang="en-US" sz="7200" dirty="0"/>
              <a:t> and Application: An Intl. J. (MLAIJ), </a:t>
            </a:r>
            <a:r>
              <a:rPr lang="en-US" sz="7200" dirty="0" err="1"/>
              <a:t>Vol</a:t>
            </a:r>
            <a:r>
              <a:rPr lang="en-US" sz="7200" dirty="0"/>
              <a:t> 2, No.3/4 </a:t>
            </a:r>
          </a:p>
          <a:p>
            <a:pPr lvl="0" fontAlgn="base"/>
            <a:r>
              <a:rPr lang="en-US" sz="7200" dirty="0" err="1"/>
              <a:t>Asri</a:t>
            </a:r>
            <a:r>
              <a:rPr lang="en-US" sz="7200" dirty="0"/>
              <a:t>, H., </a:t>
            </a:r>
            <a:r>
              <a:rPr lang="en-US" sz="7200" dirty="0" err="1"/>
              <a:t>Mousannif</a:t>
            </a:r>
            <a:r>
              <a:rPr lang="en-US" sz="7200" dirty="0"/>
              <a:t>, H., Al </a:t>
            </a:r>
            <a:r>
              <a:rPr lang="en-US" sz="7200" dirty="0" err="1"/>
              <a:t>Moatassime</a:t>
            </a:r>
            <a:r>
              <a:rPr lang="en-US" sz="7200" dirty="0"/>
              <a:t>, H., &amp; Noel, T. (2016). Using machine learning algorithms for breast cancer risk prediction and diagnosis. </a:t>
            </a:r>
            <a:r>
              <a:rPr lang="en-US" sz="7200" dirty="0" err="1"/>
              <a:t>Procedia</a:t>
            </a:r>
            <a:r>
              <a:rPr lang="en-US" sz="7200" dirty="0"/>
              <a:t> Computer Science, 83, 1064-1069.</a:t>
            </a:r>
          </a:p>
          <a:p>
            <a:pPr lvl="0" fontAlgn="base"/>
            <a:r>
              <a:rPr lang="en-US" sz="7200" dirty="0" err="1"/>
              <a:t>Azar</a:t>
            </a:r>
            <a:r>
              <a:rPr lang="en-US" sz="7200" dirty="0"/>
              <a:t>, A. T., &amp; El-</a:t>
            </a:r>
            <a:r>
              <a:rPr lang="en-US" sz="7200" dirty="0" err="1"/>
              <a:t>Metwally</a:t>
            </a:r>
            <a:r>
              <a:rPr lang="en-US" sz="7200" dirty="0"/>
              <a:t>, S. M. (2013). Decision tree classifiers for automated medical diagnosis. Neural Computing and </a:t>
            </a:r>
          </a:p>
          <a:p>
            <a:r>
              <a:rPr lang="en-US" sz="7200" dirty="0"/>
              <a:t>Applications, 23(7), 2387-2403.</a:t>
            </a:r>
          </a:p>
          <a:p>
            <a:pPr lvl="0" fontAlgn="base"/>
            <a:r>
              <a:rPr lang="en-US" sz="7200" dirty="0" err="1"/>
              <a:t>Bazazeh</a:t>
            </a:r>
            <a:r>
              <a:rPr lang="en-US" sz="7200" dirty="0"/>
              <a:t>, D., &amp;</a:t>
            </a:r>
            <a:r>
              <a:rPr lang="en-US" sz="7200" dirty="0" err="1"/>
              <a:t>Shubair</a:t>
            </a:r>
            <a:r>
              <a:rPr lang="en-US" sz="7200" dirty="0"/>
              <a:t>, R. (2016, December). Comparative study of machine learning algorithms for breast cancer detection and diagnosis. In 2016 5th international conference on electronic devices, systems and applications (ICEDSA) (pp. 1-4). IEEE. </a:t>
            </a:r>
          </a:p>
          <a:p>
            <a:pPr lvl="0" fontAlgn="base"/>
            <a:r>
              <a:rPr lang="en-US" sz="7200" dirty="0" err="1"/>
              <a:t>BharathRangarajan</a:t>
            </a:r>
            <a:r>
              <a:rPr lang="en-US" sz="7200" dirty="0"/>
              <a:t>, </a:t>
            </a:r>
            <a:r>
              <a:rPr lang="en-US" sz="7200" dirty="0" err="1"/>
              <a:t>TanujaShet</a:t>
            </a:r>
            <a:r>
              <a:rPr lang="en-US" sz="7200" dirty="0"/>
              <a:t>, </a:t>
            </a:r>
            <a:r>
              <a:rPr lang="en-US" sz="7200" dirty="0" err="1"/>
              <a:t>TabassumWadasadawala</a:t>
            </a:r>
            <a:r>
              <a:rPr lang="en-US" sz="7200" dirty="0"/>
              <a:t>, Nita S. Nair, R. </a:t>
            </a:r>
            <a:r>
              <a:rPr lang="en-US" sz="7200" dirty="0" err="1"/>
              <a:t>MadhuSairam</a:t>
            </a:r>
            <a:r>
              <a:rPr lang="en-US" sz="7200" dirty="0"/>
              <a:t>, </a:t>
            </a:r>
            <a:r>
              <a:rPr lang="en-US" sz="7200" dirty="0" err="1"/>
              <a:t>Sachin</a:t>
            </a:r>
            <a:r>
              <a:rPr lang="en-US" sz="7200" dirty="0"/>
              <a:t> S. </a:t>
            </a:r>
            <a:r>
              <a:rPr lang="en-US" sz="7200" dirty="0" err="1"/>
              <a:t>Hingmire</a:t>
            </a:r>
            <a:r>
              <a:rPr lang="en-US" sz="7200" dirty="0"/>
              <a:t> and </a:t>
            </a:r>
            <a:r>
              <a:rPr lang="en-US" sz="7200" dirty="0" err="1"/>
              <a:t>JyotiBajpai</a:t>
            </a:r>
            <a:r>
              <a:rPr lang="en-US" sz="7200" dirty="0"/>
              <a:t>. (2016 July-September). “Breast cancer: An overview of published Indian data”.</a:t>
            </a:r>
          </a:p>
          <a:p>
            <a:r>
              <a:rPr lang="en-US" sz="7200" u="sng" dirty="0"/>
              <a:t>https://www.ncbi.nlm.nih.gov/pmc/articles/PMC4991144/</a:t>
            </a:r>
            <a:endParaRPr lang="en-US" sz="7200" dirty="0"/>
          </a:p>
          <a:p>
            <a:pPr lvl="0" fontAlgn="base"/>
            <a:r>
              <a:rPr lang="en-US" sz="7200" dirty="0"/>
              <a:t>Chao, C. M., Yu, Y. W., Cheng, B. W., &amp;</a:t>
            </a:r>
            <a:r>
              <a:rPr lang="en-US" sz="7200" dirty="0" err="1"/>
              <a:t>Kuo</a:t>
            </a:r>
            <a:r>
              <a:rPr lang="en-US" sz="7200" dirty="0"/>
              <a:t>, Y. L. (2014). Construction the model on the breast cancer survival analysis use support vector machine, logistic regression and decision tree. Journal of medical systems, 38(10), 1-7.</a:t>
            </a:r>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TotalTime>
  <Words>1219</Words>
  <Application>Microsoft Office PowerPoint</Application>
  <PresentationFormat>On-screen Show (4:3)</PresentationFormat>
  <Paragraphs>134</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            DEPARTMENT OF COMPUTER SCIENCE AND ENGINEERING                DRIEMS POLYTECHNIC, TANGI, CUTTACK-754022</vt:lpstr>
      <vt:lpstr>Content:-</vt:lpstr>
      <vt:lpstr>Introduction</vt:lpstr>
      <vt:lpstr>Demerits of using manual techniques like FNA(Fine Needle Aspiration).</vt:lpstr>
      <vt:lpstr>Merits of predicting through machine learning.</vt:lpstr>
      <vt:lpstr>Objectives.</vt:lpstr>
      <vt:lpstr>Data Collection.</vt:lpstr>
      <vt:lpstr>Slide 8</vt:lpstr>
      <vt:lpstr>Methodology.</vt:lpstr>
      <vt:lpstr>Slide 10</vt:lpstr>
      <vt:lpstr>SVM</vt:lpstr>
      <vt:lpstr>Slide 12</vt:lpstr>
      <vt:lpstr>Result</vt:lpstr>
      <vt:lpstr>Slide 14</vt:lpstr>
      <vt:lpstr>Output &amp; Result</vt:lpstr>
      <vt:lpstr>Conclusion &amp; Future Scope</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COMPUTER SCIENCE AND ENGINEERING                DRIEMS POLYTECHNIC, TANGI, CUTTACK-754022</dc:title>
  <dc:creator>LENOVO</dc:creator>
  <cp:lastModifiedBy>LENOVO</cp:lastModifiedBy>
  <cp:revision>22</cp:revision>
  <dcterms:created xsi:type="dcterms:W3CDTF">2023-06-12T22:44:21Z</dcterms:created>
  <dcterms:modified xsi:type="dcterms:W3CDTF">2023-06-13T02:15:34Z</dcterms:modified>
</cp:coreProperties>
</file>